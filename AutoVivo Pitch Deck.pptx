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0" y="0"/>
            <a:ext cx="632399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23990" cy="6858000"/>
          </a:xfrm>
          <a:prstGeom prst="rect">
            <a:avLst/>
          </a:prstGeom>
          <a:solidFill>
            <a:srgbClr val="0D1A00">
              <a:alpha val="75000"/>
            </a:srgbClr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323990" y="0"/>
            <a:ext cx="54864" cy="685800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78854" y="0"/>
            <a:ext cx="5782666" cy="6858000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18320" y="228600"/>
            <a:ext cx="2286000" cy="777240"/>
          </a:xfrm>
          <a:prstGeom prst="rect">
            <a:avLst/>
          </a:prstGeom>
          <a:solidFill>
            <a:srgbClr val="162600"/>
          </a:solidFill>
          <a:ln w="12700">
            <a:solidFill>
              <a:srgbClr val="4A7C1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64040" y="274320"/>
            <a:ext cx="2194560" cy="658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50101" y="1554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AutoVivo</a:t>
            </a:r>
            <a:endParaRPr lang="en-US" sz="5800" dirty="0"/>
          </a:p>
        </p:txBody>
      </p:sp>
      <p:sp>
        <p:nvSpPr>
          <p:cNvPr id="9" name="Text 5"/>
          <p:cNvSpPr/>
          <p:nvPr/>
        </p:nvSpPr>
        <p:spPr>
          <a:xfrm>
            <a:off x="6750101" y="2606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Repair, Reimagined.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750101" y="3182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Mobile. On-Demand. At Your Location.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750101" y="3703320"/>
            <a:ext cx="4114800" cy="36576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50101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750101" y="44988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396021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8396021" y="44988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041941" y="3931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10041941" y="44988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50101" y="5212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 Finals / Finals Pitch  ·  2025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5760" y="4846320"/>
            <a:ext cx="5594299" cy="36576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4937760"/>
            <a:ext cx="55942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mechanic, wherever you are.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Pitch Deck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repair is broken.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310896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7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880360"/>
            <a:ext cx="3017520" cy="27432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44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for an appointment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1.8 days in 2021)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463040"/>
            <a:ext cx="64008" cy="310896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7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drivers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880360"/>
            <a:ext cx="3017520" cy="27432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944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2+ weeks before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their car fixed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463040"/>
            <a:ext cx="64008" cy="310896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7C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845820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repairs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58200" y="2880360"/>
            <a:ext cx="3017520" cy="27432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944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 fixed correctly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47731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repair forces customers to disrupt their entire day — drop off a car, arrange a ride, and wait hours or days. There is no good reason it still works this way.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7607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bring the garage to you.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1234440"/>
          </a:xfrm>
          <a:prstGeom prst="rect">
            <a:avLst/>
          </a:prstGeom>
          <a:solidFill>
            <a:srgbClr val="1A2E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7452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Service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0208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Fully-equipped technicians come to your home, office, or wherever you are.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00" cy="1234440"/>
          </a:xfrm>
          <a:prstGeom prst="rect">
            <a:avLst/>
          </a:prstGeom>
          <a:solidFill>
            <a:srgbClr val="1A2E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0358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Booking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4381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in minutes online — confirmed immediately, no phone calls or hold music.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5486400" cy="1234440"/>
          </a:xfrm>
          <a:prstGeom prst="rect">
            <a:avLst/>
          </a:prstGeom>
          <a:solidFill>
            <a:srgbClr val="1A2E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470916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4531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Certified Experts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8554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 is certified and vetted — from oil changes to complex diagnostics.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502920"/>
            <a:ext cx="5394960" cy="5897880"/>
          </a:xfrm>
          <a:prstGeom prst="rect">
            <a:avLst/>
          </a:prstGeom>
          <a:solidFill>
            <a:srgbClr val="0D1A00"/>
          </a:solidFill>
          <a:ln w="254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502920"/>
            <a:ext cx="5394960" cy="58978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309360" y="502920"/>
            <a:ext cx="5394960" cy="5897880"/>
          </a:xfrm>
          <a:prstGeom prst="rect">
            <a:avLst/>
          </a:prstGeom>
          <a:solidFill>
            <a:srgbClr val="0D1A00">
              <a:alpha val="50000"/>
            </a:srgbClr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5760720"/>
            <a:ext cx="5394960" cy="640080"/>
          </a:xfrm>
          <a:prstGeom prst="rect">
            <a:avLst/>
          </a:prstGeom>
          <a:solidFill>
            <a:srgbClr val="0D1A00">
              <a:alpha val="80000"/>
            </a:srgbClr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5806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repairs. At your location.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seamless end-to-end booking experience.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7772400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61872"/>
            <a:ext cx="7772400" cy="5138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261872"/>
            <a:ext cx="3246120" cy="5138928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95360" y="1572768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89720" y="152704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Conversion-focused landing page with a clear CTA above the fold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0" y="274320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89720" y="26974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 carousel with 11 real customer testimonials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95360" y="391363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89720" y="38679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pricing, process steps, and trust indicators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95360" y="5084064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5084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89720" y="503834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optimised for mobile-first users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 booking — done in under 2 minutes.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280160" cy="36576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6576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72768"/>
            <a:ext cx="3657600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69280"/>
            <a:ext cx="3657600" cy="338328"/>
          </a:xfrm>
          <a:prstGeom prst="rect">
            <a:avLst/>
          </a:prstGeom>
          <a:solidFill>
            <a:srgbClr val="0D1A00">
              <a:alpha val="90000"/>
            </a:srgbClr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56692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Vehicle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170432"/>
            <a:ext cx="1280160" cy="36576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572768"/>
            <a:ext cx="36576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572768"/>
            <a:ext cx="3657600" cy="44348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97680" y="5669280"/>
            <a:ext cx="3657600" cy="338328"/>
          </a:xfrm>
          <a:prstGeom prst="rect">
            <a:avLst/>
          </a:prstGeom>
          <a:solidFill>
            <a:srgbClr val="0D1A00">
              <a:alpha val="90000"/>
            </a:srgbClr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56692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Service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0" y="1170432"/>
            <a:ext cx="1280160" cy="36576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0" y="1170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29600" y="1572768"/>
            <a:ext cx="36576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572768"/>
            <a:ext cx="3657600" cy="44348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29600" y="5669280"/>
            <a:ext cx="3657600" cy="338328"/>
          </a:xfrm>
          <a:prstGeom prst="rect">
            <a:avLst/>
          </a:prstGeom>
          <a:solidFill>
            <a:srgbClr val="0D1A00">
              <a:alpha val="90000"/>
            </a:srgbClr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29600" y="56692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Time &amp; Confirm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&amp; 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 market ready for disruption.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48333"/>
            <a:ext cx="3840480" cy="2995574"/>
          </a:xfrm>
          <a:prstGeom prst="ellipse">
            <a:avLst/>
          </a:prstGeom>
          <a:solidFill>
            <a:srgbClr val="D4E8B0">
              <a:alpha val="85000"/>
            </a:srgbClr>
          </a:solidFill>
          <a:ln w="1905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1485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4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940" dirty="0"/>
          </a:p>
        </p:txBody>
      </p:sp>
      <p:sp>
        <p:nvSpPr>
          <p:cNvPr id="7" name="Text 5"/>
          <p:cNvSpPr/>
          <p:nvPr/>
        </p:nvSpPr>
        <p:spPr>
          <a:xfrm>
            <a:off x="365760" y="30815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1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$880B+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365760" y="426841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Auto Repair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2160727"/>
            <a:ext cx="3017520" cy="2353666"/>
          </a:xfrm>
          <a:prstGeom prst="ellipse">
            <a:avLst/>
          </a:prstGeom>
          <a:solidFill>
            <a:srgbClr val="9CC954">
              <a:alpha val="85000"/>
            </a:srgbClr>
          </a:solidFill>
          <a:ln w="1905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233879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1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310" dirty="0"/>
          </a:p>
        </p:txBody>
      </p:sp>
      <p:sp>
        <p:nvSpPr>
          <p:cNvPr id="11" name="Text 9"/>
          <p:cNvSpPr/>
          <p:nvPr/>
        </p:nvSpPr>
        <p:spPr>
          <a:xfrm>
            <a:off x="3429000" y="31729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$341B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3429000" y="4038905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2573122"/>
            <a:ext cx="2194560" cy="1711757"/>
          </a:xfrm>
          <a:prstGeom prst="ellipse">
            <a:avLst/>
          </a:prstGeom>
          <a:solidFill>
            <a:srgbClr val="4A7C10">
              <a:alpha val="85000"/>
            </a:srgbClr>
          </a:solidFill>
          <a:ln w="1905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264627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6080760" y="326440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$4.3B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6080760" y="380939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Segment (2025)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repair growing at 8.82% CAGR — projected to reach $6.5B by 2030  (Mordor Intelligence)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1170432"/>
            <a:ext cx="2926080" cy="5029200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42832" y="1280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42832" y="181051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8048" y="18105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Launch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28048" y="215798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residential &amp; office areas in city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42832" y="290779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42832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28048" y="29077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Segment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28048" y="325526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professionals 25–45, value time over price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42832" y="400507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28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28048" y="40050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28048" y="435254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Google Ads capture high-intent searches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42832" y="510235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28048" y="51023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Engine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28048" y="544982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credits drive repeat bookings &amp; word-of-mouth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Pre-launch — the foundation is fully in place.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623560" cy="1965960"/>
          </a:xfrm>
          <a:prstGeom prst="rect">
            <a:avLst/>
          </a:prstGeom>
          <a:solidFill>
            <a:srgbClr val="1A2E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10312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5819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Product Built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booking platform live — home, vehicle select, service select, and scheduling pages all complete.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623560" cy="1965960"/>
          </a:xfrm>
          <a:prstGeom prst="rect">
            <a:avLst/>
          </a:prstGeom>
          <a:solidFill>
            <a:srgbClr val="1A2E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210312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15819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Technicians Ready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certified mechanics recruited and ready to be onboarded at the moment we launch.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623560" cy="1965960"/>
          </a:xfrm>
          <a:prstGeom prst="rect">
            <a:avLst/>
          </a:prstGeom>
          <a:solidFill>
            <a:srgbClr val="1A2E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425196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Assembled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1605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of 4 in place — two developers, a UX designer, and an operations lead.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566160"/>
            <a:ext cx="5623560" cy="1965960"/>
          </a:xfrm>
          <a:prstGeom prst="rect">
            <a:avLst/>
          </a:prstGeom>
          <a:solidFill>
            <a:srgbClr val="1A2E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25196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 Done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41605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pain points, competitor gaps, and pricing model validated through primary and secondary research.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solidFill>
            <a:srgbClr val="0D1A0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8338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is our next milestone. Everything is built and ready to move.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AutoVivo wins.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2377440" cy="475488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33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353312"/>
            <a:ext cx="2103120" cy="475488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Shop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1353312"/>
            <a:ext cx="2103120" cy="475488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1353312"/>
            <a:ext cx="2103120" cy="475488"/>
          </a:xfrm>
          <a:prstGeom prst="rect">
            <a:avLst/>
          </a:prstGeom>
          <a:solidFill>
            <a:srgbClr val="0D1A00"/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Mobile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1353312"/>
            <a:ext cx="2103120" cy="4754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847088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8470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to you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1847088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8470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66360" y="1847088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8470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1847088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8470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72600" y="1847088"/>
            <a:ext cx="2103120" cy="685800"/>
          </a:xfrm>
          <a:prstGeom prst="rect">
            <a:avLst/>
          </a:prstGeom>
          <a:solidFill>
            <a:srgbClr val="E8F5D0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18470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2560320"/>
            <a:ext cx="237744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63240" y="2560320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2560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66360" y="2560320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560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69480" y="2560320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560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72600" y="2560320"/>
            <a:ext cx="2103120" cy="685800"/>
          </a:xfrm>
          <a:prstGeom prst="rect">
            <a:avLst/>
          </a:prstGeom>
          <a:solidFill>
            <a:srgbClr val="E8F5D0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2560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3273552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273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63240" y="3273552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32735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66360" y="3273552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2735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69480" y="3273552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32735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372600" y="3273552"/>
            <a:ext cx="2103120" cy="685800"/>
          </a:xfrm>
          <a:prstGeom prst="rect">
            <a:avLst/>
          </a:prstGeom>
          <a:solidFill>
            <a:srgbClr val="E8F5D0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18320" y="32735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" y="3986784"/>
            <a:ext cx="237744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39867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 wait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063240" y="3986784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39867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166360" y="3986784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39867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269480" y="3986784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39867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372600" y="3986784"/>
            <a:ext cx="2103120" cy="685800"/>
          </a:xfrm>
          <a:prstGeom prst="rect">
            <a:avLst/>
          </a:prstGeom>
          <a:solidFill>
            <a:srgbClr val="E8F5D0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0" y="39867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5800" y="4700016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470001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techs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63240" y="4700016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47000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166360" y="4700016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47000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4700016"/>
            <a:ext cx="2103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47000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372600" y="4700016"/>
            <a:ext cx="2103120" cy="685800"/>
          </a:xfrm>
          <a:prstGeom prst="rect">
            <a:avLst/>
          </a:prstGeom>
          <a:solidFill>
            <a:srgbClr val="E8F5D0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18320" y="470001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5800" y="5413248"/>
            <a:ext cx="237744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4132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confirmation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063240" y="5413248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0" y="5413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166360" y="5413248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12080" y="5413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269480" y="5413248"/>
            <a:ext cx="2103120" cy="685800"/>
          </a:xfrm>
          <a:prstGeom prst="rect">
            <a:avLst/>
          </a:prstGeom>
          <a:solidFill>
            <a:srgbClr val="F0F7E8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0" y="5413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372600" y="5413248"/>
            <a:ext cx="2103120" cy="685800"/>
          </a:xfrm>
          <a:prstGeom prst="rect">
            <a:avLst/>
          </a:prstGeom>
          <a:solidFill>
            <a:srgbClr val="E8F5D0"/>
          </a:solidFill>
          <a:ln w="6350">
            <a:solidFill>
              <a:srgbClr val="D4E8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18320" y="5413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85800" y="6217920"/>
            <a:ext cx="10789920" cy="9144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AutoVivo makes money.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623560" cy="2103120"/>
          </a:xfrm>
          <a:prstGeom prst="rect">
            <a:avLst/>
          </a:prstGeom>
          <a:solidFill>
            <a:srgbClr val="1626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210312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9456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Per-Service Revenue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574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 per booking. AutoVivo earns a platform fee on each job.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623560" cy="2103120"/>
          </a:xfrm>
          <a:prstGeom prst="rect">
            <a:avLst/>
          </a:prstGeom>
          <a:solidFill>
            <a:srgbClr val="1626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417320"/>
            <a:ext cx="64008" cy="210312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219456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1618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Packages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20574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plans for fleet owners and frequent customers — recurring revenue.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623560" cy="2103120"/>
          </a:xfrm>
          <a:prstGeom prst="rect">
            <a:avLst/>
          </a:prstGeom>
          <a:solidFill>
            <a:srgbClr val="1626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03320"/>
            <a:ext cx="64008" cy="210312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48056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904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Scheduling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3434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and priority time slots offered as a convenience upgrade.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703320"/>
            <a:ext cx="5623560" cy="2103120"/>
          </a:xfrm>
          <a:prstGeom prst="rect">
            <a:avLst/>
          </a:prstGeom>
          <a:solidFill>
            <a:srgbClr val="1626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3703320"/>
            <a:ext cx="64008" cy="210312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6248" y="4480560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3904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&amp; B2B Contracts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69480" y="43434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service agreements with businesses, property managers, and fleet operators.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people to build and scale this.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2688" y="1298448"/>
            <a:ext cx="1463040" cy="1463040"/>
          </a:xfrm>
          <a:prstGeom prst="ellipse">
            <a:avLst/>
          </a:prstGeom>
          <a:solidFill>
            <a:srgbClr val="4A7C10"/>
          </a:solidFill>
          <a:ln w="254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298448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645920" y="2761488"/>
            <a:ext cx="36576" cy="182880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944368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&amp; 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Lead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749040"/>
            <a:ext cx="1417320" cy="27432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2219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strategy, operations, and partnerships. The connective tissue of the team.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13048" y="1298448"/>
            <a:ext cx="1463040" cy="1463040"/>
          </a:xfrm>
          <a:prstGeom prst="ellipse">
            <a:avLst/>
          </a:prstGeom>
          <a:solidFill>
            <a:srgbClr val="3D6B0D"/>
          </a:solidFill>
          <a:ln w="254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13048" y="1298448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4526280" y="2761488"/>
            <a:ext cx="36576" cy="182880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944368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6B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3749040"/>
            <a:ext cx="1417320" cy="27432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82219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maintains platform architecture, booking engine, and backend systems.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93408" y="1298448"/>
            <a:ext cx="1463040" cy="1463040"/>
          </a:xfrm>
          <a:prstGeom prst="ellipse">
            <a:avLst/>
          </a:prstGeom>
          <a:solidFill>
            <a:srgbClr val="2C5009"/>
          </a:solidFill>
          <a:ln w="254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93408" y="1298448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7406640" y="2761488"/>
            <a:ext cx="36576" cy="182880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944368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3749040"/>
            <a:ext cx="1417320" cy="27432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82219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experience, performance optimisation, and feature development.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73768" y="1298448"/>
            <a:ext cx="1463040" cy="1463040"/>
          </a:xfrm>
          <a:prstGeom prst="ellipse">
            <a:avLst/>
          </a:prstGeom>
          <a:solidFill>
            <a:srgbClr val="1E3806"/>
          </a:solidFill>
          <a:ln w="254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573768" y="1298448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31" name="Shape 29"/>
          <p:cNvSpPr/>
          <p:nvPr/>
        </p:nvSpPr>
        <p:spPr>
          <a:xfrm>
            <a:off x="10287000" y="2761488"/>
            <a:ext cx="36576" cy="182880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0" y="2944368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9828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98280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01200" y="3749040"/>
            <a:ext cx="1417320" cy="27432"/>
          </a:xfrm>
          <a:prstGeom prst="rect">
            <a:avLst/>
          </a:prstGeom>
          <a:solidFill>
            <a:srgbClr val="D4E8B0"/>
          </a:solidFill>
          <a:ln w="12700">
            <a:solidFill>
              <a:srgbClr val="D4E8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382219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end-to-end user experience — research, wireframes, and interface design.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5596128"/>
            <a:ext cx="11430000" cy="804672"/>
          </a:xfrm>
          <a:prstGeom prst="rect">
            <a:avLst/>
          </a:prstGeom>
          <a:solidFill>
            <a:srgbClr val="0D1A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5623560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A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+ 3–5 Certified Mechanics  —  Vetted, trained, and ready to onboard at launch.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launch to scale.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337560"/>
            <a:ext cx="10698480" cy="54864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9072" y="3163824"/>
            <a:ext cx="384048" cy="384048"/>
          </a:xfrm>
          <a:prstGeom prst="ellipse">
            <a:avLst/>
          </a:prstGeom>
          <a:solidFill>
            <a:srgbClr val="4A7C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6187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61872"/>
            <a:ext cx="2651760" cy="411480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61872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0–3 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700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075688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in target market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3–5 technicians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bookings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feedback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20824" y="2788920"/>
            <a:ext cx="36576" cy="38404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49040"/>
            <a:ext cx="2651760" cy="960120"/>
          </a:xfrm>
          <a:prstGeom prst="rect">
            <a:avLst/>
          </a:prstGeom>
          <a:solidFill>
            <a:srgbClr val="0D1A00"/>
          </a:solidFill>
          <a:ln w="12700">
            <a:solidFill>
              <a:srgbClr val="4A7C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bookings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53712" y="3163824"/>
            <a:ext cx="384048" cy="384048"/>
          </a:xfrm>
          <a:prstGeom prst="ellipse">
            <a:avLst/>
          </a:prstGeom>
          <a:solidFill>
            <a:srgbClr val="3D6B0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26187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1261872"/>
            <a:ext cx="2651760" cy="411480"/>
          </a:xfrm>
          <a:prstGeom prst="rect">
            <a:avLst/>
          </a:prstGeom>
          <a:solidFill>
            <a:srgbClr val="3D6B0D"/>
          </a:solidFill>
          <a:ln w="12700">
            <a:solidFill>
              <a:srgbClr val="3D6B0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1261872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3–9 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39312" y="1700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39312" y="2075688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bookings/mo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partnerships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55464" y="2788920"/>
            <a:ext cx="36576" cy="38404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3749040"/>
            <a:ext cx="2651760" cy="960120"/>
          </a:xfrm>
          <a:prstGeom prst="rect">
            <a:avLst/>
          </a:prstGeom>
          <a:solidFill>
            <a:srgbClr val="0D1A00"/>
          </a:solidFill>
          <a:ln w="12700">
            <a:solidFill>
              <a:srgbClr val="3D6B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75888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75888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bookings/mo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8352" y="3163824"/>
            <a:ext cx="384048" cy="384048"/>
          </a:xfrm>
          <a:prstGeom prst="ellipse">
            <a:avLst/>
          </a:prstGeom>
          <a:solidFill>
            <a:srgbClr val="2C500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26187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1261872"/>
            <a:ext cx="2651760" cy="411480"/>
          </a:xfrm>
          <a:prstGeom prst="rect">
            <a:avLst/>
          </a:prstGeom>
          <a:solidFill>
            <a:srgbClr val="2C5009"/>
          </a:solidFill>
          <a:ln w="12700">
            <a:solidFill>
              <a:srgbClr val="2C50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261872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9–18 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73952" y="1700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73952" y="2075688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2nd 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fleet deals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launch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growth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90104" y="2788920"/>
            <a:ext cx="36576" cy="38404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749040"/>
            <a:ext cx="2651760" cy="960120"/>
          </a:xfrm>
          <a:prstGeom prst="rect">
            <a:avLst/>
          </a:prstGeom>
          <a:solidFill>
            <a:srgbClr val="0D1A00"/>
          </a:solidFill>
          <a:ln w="12700">
            <a:solidFill>
              <a:srgbClr val="2C50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0528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10528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cities live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222992" y="3163824"/>
            <a:ext cx="384048" cy="384048"/>
          </a:xfrm>
          <a:prstGeom prst="ellipse">
            <a:avLst/>
          </a:prstGeom>
          <a:solidFill>
            <a:srgbClr val="1E38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0" y="1261872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235440" y="1261872"/>
            <a:ext cx="2651760" cy="411480"/>
          </a:xfrm>
          <a:prstGeom prst="rect">
            <a:avLst/>
          </a:prstGeom>
          <a:solidFill>
            <a:srgbClr val="1E3806"/>
          </a:solidFill>
          <a:ln w="12700">
            <a:solidFill>
              <a:srgbClr val="1E38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08592" y="1261872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18–36 Mo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08592" y="1700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308592" y="2075688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rollout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524744" y="2788920"/>
            <a:ext cx="36576" cy="38404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35440" y="3749040"/>
            <a:ext cx="2651760" cy="960120"/>
          </a:xfrm>
          <a:prstGeom prst="rect">
            <a:avLst/>
          </a:prstGeom>
          <a:solidFill>
            <a:srgbClr val="0D1A00"/>
          </a:solidFill>
          <a:ln w="12700">
            <a:solidFill>
              <a:srgbClr val="1E38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45168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345168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 ready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080" y="4956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milestones before next raise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0080" y="533095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280160" y="53583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1st 100 bookings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383280" y="533095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023360" y="53583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monthly bookings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26480" y="533095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766560" y="53583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city + B2B pilots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869680" y="5330952"/>
            <a:ext cx="502920" cy="502920"/>
          </a:xfrm>
          <a:prstGeom prst="ellipse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509760" y="53583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Series A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00"/>
          </a:solidFill>
          <a:ln w="12700">
            <a:solidFill>
              <a:srgbClr val="0A16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54710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2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A00">
              <a:alpha val="62000"/>
            </a:srgbClr>
          </a:solidFill>
          <a:ln w="12700">
            <a:solidFill>
              <a:srgbClr val="0D1A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256032"/>
            <a:ext cx="2377440" cy="804672"/>
          </a:xfrm>
          <a:prstGeom prst="rect">
            <a:avLst/>
          </a:prstGeom>
          <a:solidFill>
            <a:srgbClr val="0D1A00"/>
          </a:solidFill>
          <a:ln w="12700">
            <a:solidFill>
              <a:srgbClr val="4A7C1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01752"/>
            <a:ext cx="22860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261872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auto repair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already here.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1371600" y="34015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 brings professional auto repair directly to drivers — on-demand, transparent, and stress-free.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65760" y="4370832"/>
            <a:ext cx="3200400" cy="594360"/>
          </a:xfrm>
          <a:prstGeom prst="rect">
            <a:avLst/>
          </a:prstGeom>
          <a:solidFill>
            <a:srgbClr val="4A7C10">
              <a:alpha val="75000"/>
            </a:srgbClr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" y="437083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 market 8.8% CAGR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80560" y="4370832"/>
            <a:ext cx="3200400" cy="594360"/>
          </a:xfrm>
          <a:prstGeom prst="rect">
            <a:avLst/>
          </a:prstGeom>
          <a:solidFill>
            <a:srgbClr val="4A7C10">
              <a:alpha val="75000"/>
            </a:srgbClr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90288" y="437083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3–5 Mechanics at launch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595360" y="4370832"/>
            <a:ext cx="3200400" cy="594360"/>
          </a:xfrm>
          <a:prstGeom prst="rect">
            <a:avLst/>
          </a:prstGeom>
          <a:solidFill>
            <a:srgbClr val="4A7C10">
              <a:alpha val="75000"/>
            </a:srgbClr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705088" y="437083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product built &amp; tested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" y="5166360"/>
            <a:ext cx="11430000" cy="36576"/>
          </a:xfrm>
          <a:prstGeom prst="rect">
            <a:avLst/>
          </a:prstGeom>
          <a:solidFill>
            <a:srgbClr val="4A7C10"/>
          </a:solidFill>
          <a:ln w="12700">
            <a:solidFill>
              <a:srgbClr val="4A7C1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5321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365760" y="5943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autovivo.ca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315200" y="5321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9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AutoVivo – Pitch Deck</dc:title>
  <dc:subject>PptxGenJS Presentation</dc:subject>
  <dc:creator>AutoVivo</dc:creator>
  <cp:lastModifiedBy>AutoVivo</cp:lastModifiedBy>
  <cp:revision>1</cp:revision>
  <dcterms:created xsi:type="dcterms:W3CDTF">2026-05-29T01:35:32Z</dcterms:created>
  <dcterms:modified xsi:type="dcterms:W3CDTF">2026-05-29T01:35:32Z</dcterms:modified>
</cp:coreProperties>
</file>